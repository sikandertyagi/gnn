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124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78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229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740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05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46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46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78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27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70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583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8059B-5E1A-4624-9C42-E4A8CC5B429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C8898-B672-4932-B459-A4A7119A4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04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able 11"/>
          <p:cNvGraphicFramePr/>
          <p:nvPr>
            <p:extLst/>
          </p:nvPr>
        </p:nvGraphicFramePr>
        <p:xfrm>
          <a:off x="0" y="0"/>
          <a:ext cx="12191052" cy="4298160"/>
        </p:xfrm>
        <a:graphic>
          <a:graphicData uri="http://schemas.openxmlformats.org/drawingml/2006/table">
            <a:tbl>
              <a:tblPr/>
              <a:tblGrid>
                <a:gridCol w="588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7837">
                  <a:extLst>
                    <a:ext uri="{9D8B030D-6E8A-4147-A177-3AD203B41FA5}">
                      <a16:colId xmlns:a16="http://schemas.microsoft.com/office/drawing/2014/main" val="2435692802"/>
                    </a:ext>
                  </a:extLst>
                </a:gridCol>
              </a:tblGrid>
              <a:tr h="51436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Cumulative progress &amp; achievement</a:t>
                      </a:r>
                      <a:r>
                        <a:rPr lang="en-US" sz="1400" b="1" strike="noStrike" spc="-1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highlights till previous review </a:t>
                      </a:r>
                    </a:p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i.e. Review-II (2025-26)</a:t>
                      </a:r>
                      <a:endParaRPr lang="en-IN" sz="1400" b="1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400" b="1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Progress</a:t>
                      </a:r>
                      <a:r>
                        <a:rPr lang="en-US" sz="1400" b="1" strike="noStrike" spc="-1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&amp; </a:t>
                      </a:r>
                      <a:r>
                        <a:rPr lang="en-US" sz="1400" b="1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achievement</a:t>
                      </a:r>
                      <a:r>
                        <a:rPr lang="en-US" sz="1400" b="1" strike="noStrike" spc="-1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highlights from previous review i.e. Review-II (2025-26) to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400" b="1" strike="noStrike" spc="-1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current review i.e. Review-I (2026-27) </a:t>
                      </a:r>
                      <a:endParaRPr lang="en-US" sz="1400" b="1" strike="noStrike" spc="-1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014390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latin typeface="Calibri"/>
                        </a:rPr>
                        <a:t>Conducted literature survey on log anomaly detection - identified a shift from rule-based/classical ML to deep-learning-based unsupervised approaches.</a:t>
                      </a:r>
                      <a:endParaRPr lang="en-US" sz="1400" b="1" strike="noStrike" spc="-1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latin typeface="Calibri"/>
                        </a:rPr>
                        <a:t>Matured the Transformer Autoencoder into a full encoder-decoder architecture (sinusoidal positional encoding, compressed bottleneck, learned cross-attention) as one signal in a three-signal composite detection engine.</a:t>
                      </a:r>
                      <a:endParaRPr lang="en-US" sz="1400" b="1" strike="noStrike" spc="-1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661150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latin typeface="Calibri"/>
                        </a:rPr>
                        <a:t>Implemented pipeline for capturing process execution and network logs from end-points.</a:t>
                      </a:r>
                      <a:endParaRPr lang="en-US" sz="1400" b="1" strike="noStrike" spc="-1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dirty="0" smtClean="0">
                          <a:solidFill>
                            <a:schemeClr val="accent5"/>
                          </a:solidFill>
                          <a:latin typeface="+mn-lt"/>
                        </a:rPr>
                        <a:t>Architecture: </a:t>
                      </a:r>
                      <a:r>
                        <a:rPr lang="en-GB" sz="1300" b="1" dirty="0" smtClean="0">
                          <a:latin typeface="+mn-lt"/>
                        </a:rPr>
                        <a:t>Evaluated Dense AE, Transformer AE, Rarity Engine (process-lineage &amp; network-destination rarity) and a graph-based (GNN) signal for the composite; finalized the design on the first three signals - GNN excluded after underperforming in ablation testing.</a:t>
                      </a:r>
                      <a:endParaRPr lang="en-GB" sz="1300" b="1" strike="noStrike" spc="-1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131258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latin typeface="Calibri"/>
                        </a:rPr>
                        <a:t>Developed and validated an anomaly detection pipeline using a Dense Autoencoder trained on the public LMD dataset (Precision 0.99, Recall 0.96, F1 0.97, ROC-AUC 0.99); initiated work on a Transformer Autoencoder.</a:t>
                      </a:r>
                      <a:endParaRPr lang="en-US" sz="1400" b="1" strike="noStrike" spc="-1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chemeClr val="accent6"/>
                          </a:solidFill>
                          <a:latin typeface="Calibri"/>
                        </a:rPr>
                        <a:t>Results: </a:t>
                      </a:r>
                      <a:r>
                        <a:rPr sz="1300" b="1" dirty="0">
                          <a:latin typeface="Calibri"/>
                        </a:rPr>
                        <a:t>Built a production-scale, </a:t>
                      </a:r>
                      <a:r>
                        <a:rPr sz="1300" b="1" dirty="0" err="1">
                          <a:latin typeface="Calibri"/>
                        </a:rPr>
                        <a:t>config</a:t>
                      </a:r>
                      <a:r>
                        <a:rPr sz="1300" b="1" dirty="0">
                          <a:latin typeface="Calibri"/>
                        </a:rPr>
                        <a:t>-driven pipeline: disk-backed processing for 200K+ event datasets, host-scoped attack-chain alerting.</a:t>
                      </a:r>
                      <a:endParaRPr sz="1300" b="1" dirty="0">
                        <a:latin typeface="Calibri"/>
                      </a:endParaRPr>
                    </a:p>
                    <a:p>
                      <a:r>
                        <a:rPr sz="1300" b="1" dirty="0">
                          <a:latin typeface="Calibri"/>
                        </a:rPr>
                        <a:t>• On a 2.14M-event run, achieved ROC-AUC 0.9982, PR-AUC 0.9950, F1 0.9807 (Precision 0.9978, Recall 0.9642) - detecting 96.4% of malicious (Attack + Suspicious) events.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932184"/>
                  </a:ext>
                </a:extLst>
              </a:tr>
            </a:tbl>
          </a:graphicData>
        </a:graphic>
      </p:graphicFrame>
      <p:graphicFrame>
        <p:nvGraphicFramePr>
          <p:cNvPr id="50" name="Table Publications"/>
          <p:cNvGraphicFramePr/>
          <p:nvPr>
            <p:extLst/>
          </p:nvPr>
        </p:nvGraphicFramePr>
        <p:xfrm>
          <a:off x="0" y="4298160"/>
          <a:ext cx="12191052" cy="650000"/>
        </p:xfrm>
        <a:graphic>
          <a:graphicData uri="http://schemas.openxmlformats.org/drawingml/2006/table">
            <a:tbl>
              <a:tblPr/>
              <a:tblGrid>
                <a:gridCol w="12191052"/>
              </a:tblGrid>
              <a:tr h="650000">
                <a:tc>
                  <a:txBody>
                    <a:bodyPr/>
                    <a:lstStyle/>
                    <a:p>
                      <a:pPr marL="0" marR="0" lvl="0" indent="0" algn="l" defTabSz="457200">
                        <a:lnSpc>
                          <a:spcPct val="100000"/>
                        </a:lnSpc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+mn-lt"/>
                        </a:rPr>
                        <a:t>Publications: </a:t>
                      </a:r>
                      <a:r>
                        <a:rPr lang="en-US" sz="1300" b="1" dirty="0">
                          <a:latin typeface="+mn-lt"/>
                        </a:rPr>
                        <a:t>Two research papers on network-traffic anomaly detection published in IEEE - [Paper 1 title, IEEE conference/journal, year]; [Paper 2 title, IEEE conference/journal, year].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1"/>
          <p:cNvGraphicFramePr/>
          <p:nvPr>
            <p:extLst/>
          </p:nvPr>
        </p:nvGraphicFramePr>
        <p:xfrm>
          <a:off x="0" y="4988160"/>
          <a:ext cx="12191052" cy="1774362"/>
        </p:xfrm>
        <a:graphic>
          <a:graphicData uri="http://schemas.openxmlformats.org/drawingml/2006/table">
            <a:tbl>
              <a:tblPr/>
              <a:tblGrid>
                <a:gridCol w="12191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36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Issues/Challenges,</a:t>
                      </a:r>
                      <a:r>
                        <a:rPr lang="en-US" sz="1400" b="1" strike="noStrike" spc="-1" baseline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 if any</a:t>
                      </a:r>
                      <a:endParaRPr lang="en-US" sz="1400" b="1" strike="noStrike" spc="-1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014390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 dirty="0">
                          <a:latin typeface="Calibri"/>
                        </a:rPr>
                        <a:t>• </a:t>
                      </a:r>
                      <a:r>
                        <a:rPr lang="en-US" sz="1400" b="1" dirty="0" smtClean="0">
                          <a:latin typeface="+mn-lt"/>
                        </a:rPr>
                        <a:t>A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bsence of enterprise-grade, high-performance GPU introduced a severe execution bottleneck when training complex architectures over massive endpoint telemetry streams.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>
                          <a:latin typeface="+mn-lt"/>
                        </a:rPr>
                        <a:t>• 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Limited publically available datasets for evaluating the architecture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kern="1200" dirty="0" smtClean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661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07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0"/>
          <a:ext cx="121889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Methodology: Composite Anomaly Detection Pipeline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8600" y="640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Approach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960120"/>
          <a:ext cx="512064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</a:tblGrid>
              <a:tr h="7086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Unsupervised Anomaly Detection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Calibri"/>
                        </a:rPr>
                        <a:t>Train exclusively on benign endpoint telemetry (Label=0). No attack signatures or labelled attack data required. Novel attacks detected as deviations from learned normality baseline.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Four-Signal Ensemble Scoring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4546A"/>
                          </a:solidFill>
                          <a:latin typeface="Calibri"/>
                        </a:rPr>
                        <a:t>Dense Autoencoder (50%): Per-event reconstruction error via F→128→64→32→16 bottleneck. Sharpest single-event signal.
Rarity Engine (30%): Frequency-based scoring of parent→child process pairs, process→IP connections, and destination IPs. Jeffreys-smoothed probabilities.
Transformer Autoencoder (20%): Sequence-level reconstruction of 20-event sliding windows. Captures temporal attack patterns (burst activity, unusual event ordering).
GNN Encoder (0% — disabled): Graph-based structural anomaly detection. ROC-AUC=0.31 in ablation; retained for future improvement.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Scalable Feature Engineering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4546A"/>
                          </a:solidFill>
                          <a:latin typeface="Calibri"/>
                        </a:rPr>
                        <a:t>High-cardinality columns (hostnames, ports): frequency + CRC32 hash-bucket encoding → fixed feature dimension regardless of fleet size.
Low-cardinality columns: standard OneHotEncoding.
MinMaxScaler fitted on benign data only.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Operational Pipeline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44546A"/>
                          </a:solidFill>
                          <a:latin typeface="Calibri"/>
                        </a:rPr>
                        <a:t>Elasticsearch ingestion (Elastic Defend / Sysmon / Wazuh) → streaming CSV → train on benign period → score evaluation period → composite anomaly scores → host-scoped attack chain alerts → investigation report for analyst triage.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23560" y="64008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Pipeline Block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051560"/>
            <a:ext cx="1828800" cy="384048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Elasticsearch
(Elastic Defend / Sysmon / Wazuh)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0" y="1435608"/>
            <a:ext cx="0" cy="13716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863840" y="1572768"/>
            <a:ext cx="1828800" cy="384048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Streaming CSV Ingestion
(elastic_ingest.py)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0" y="1956816"/>
            <a:ext cx="0" cy="13716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863840" y="2093976"/>
            <a:ext cx="1828800" cy="38404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Feature Engineering
+ MinMax Normalisation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2889504"/>
            <a:ext cx="1371600" cy="47548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Dense AE
(w=0.50)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1776" y="2889504"/>
            <a:ext cx="1371600" cy="47548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Rarity
Engine
(w=0.30)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4" y="2889504"/>
            <a:ext cx="1371600" cy="47548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44546A"/>
                </a:solidFill>
                <a:latin typeface="Calibri"/>
              </a:rPr>
              <a:t>Transformer
AE (w=0.20)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14432" y="2889504"/>
            <a:ext cx="1371600" cy="475488"/>
          </a:xfrm>
          <a:prstGeom prst="round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GNN
(w=0.00)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556248" y="2478024"/>
            <a:ext cx="2221992" cy="41148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037576" y="2478024"/>
            <a:ext cx="740664" cy="41148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2478024"/>
            <a:ext cx="740664" cy="41148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2478024"/>
            <a:ext cx="2221992" cy="41148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35240" y="3685032"/>
            <a:ext cx="2286000" cy="384048"/>
          </a:xfrm>
          <a:prstGeom prst="round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Composite Score Fusion
(min-max norm → weighted sum)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3364992"/>
            <a:ext cx="2221992" cy="32004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37576" y="3364992"/>
            <a:ext cx="740664" cy="32004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778240" y="3364992"/>
            <a:ext cx="740664" cy="32004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778240" y="3364992"/>
            <a:ext cx="2221992" cy="32004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78240" y="4069080"/>
            <a:ext cx="0" cy="13716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35240" y="4206240"/>
            <a:ext cx="2286000" cy="38404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Alert Aggregation
(host-scoped attack chains)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727448"/>
            <a:ext cx="1554480" cy="34747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Investigation
Report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229600" y="4590288"/>
            <a:ext cx="548640" cy="13716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81160" y="4727448"/>
            <a:ext cx="1554480" cy="34747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Flagged
Events CSV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0" y="4590288"/>
            <a:ext cx="1280160" cy="13716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109960" y="4727448"/>
            <a:ext cx="1554480" cy="34747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AUC / F1
Metrics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8240" y="4590288"/>
            <a:ext cx="3108960" cy="137160"/>
          </a:xfrm>
          <a:prstGeom prst="line">
            <a:avLst/>
          </a:prstGeom>
          <a:ln w="1905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24728" y="339242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44546A"/>
                </a:solidFill>
                <a:latin typeface="Calibri"/>
              </a:rPr>
              <a:t>All models trained on benign data (Label=0) only — evaluation data (Label=2) is scored, never trained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</cp:revision>
  <dcterms:created xsi:type="dcterms:W3CDTF">2026-07-16T04:58:49Z</dcterms:created>
  <dcterms:modified xsi:type="dcterms:W3CDTF">2026-07-16T04:59:03Z</dcterms:modified>
</cp:coreProperties>
</file>